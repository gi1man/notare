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91440" cy="502920"/>
          </a:xfrm>
          <a:prstGeom prst="rect">
            <a:avLst/>
          </a:prstGeom>
          <a:solidFill>
            <a:srgbClr val="E06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2004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1A365D"/>
                </a:solidFill>
                <a:latin typeface="Calibri"/>
              </a:defRPr>
            </a:pPr>
            <a:r>
              <a:t>Notare — habit and activity tracker</a:t>
            </a:r>
          </a:p>
          <a:p>
            <a:pPr>
              <a:defRPr sz="1200" b="0">
                <a:solidFill>
                  <a:srgbClr val="4A5568"/>
                </a:solidFill>
                <a:latin typeface="Calibri"/>
              </a:defRPr>
            </a:pPr>
            <a:r>
              <a:t>Category: Habit tracker · Local-first logging with hands-free voice capture and AI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3657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 b="1">
                <a:solidFill>
                  <a:srgbClr val="1A365D"/>
                </a:solidFill>
                <a:latin typeface="Calibri"/>
              </a:defRPr>
            </a:pPr>
            <a:r>
              <a:t>User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874519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709928"/>
            <a:ext cx="402336" cy="402336"/>
          </a:xfrm>
          <a:prstGeom prst="ellipse">
            <a:avLst/>
          </a:prstGeom>
          <a:solidFill>
            <a:srgbClr val="E06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73352"/>
            <a:ext cx="1280159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A365D"/>
                </a:solidFill>
                <a:latin typeface="Calibri"/>
              </a:defRPr>
            </a:pPr>
            <a:r>
              <a:t>Select</a:t>
            </a:r>
            <a:br/>
            <a:r>
              <a:t>category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79191" y="1828800"/>
            <a:ext cx="201168" cy="146304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53511" y="1600200"/>
            <a:ext cx="1874519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044951" y="1709928"/>
            <a:ext cx="402336" cy="402336"/>
          </a:xfrm>
          <a:prstGeom prst="ellipse">
            <a:avLst/>
          </a:prstGeom>
          <a:solidFill>
            <a:srgbClr val="28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1" y="1673352"/>
            <a:ext cx="1280159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A365D"/>
                </a:solidFill>
                <a:latin typeface="Calibri"/>
              </a:defRPr>
            </a:pPr>
            <a:r>
              <a:t>Choose</a:t>
            </a:r>
            <a:br/>
            <a:r>
              <a:t>activity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01182" y="1828800"/>
            <a:ext cx="201168" cy="146304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75502" y="1600200"/>
            <a:ext cx="1874519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266942" y="1709928"/>
            <a:ext cx="402336" cy="402336"/>
          </a:xfrm>
          <a:prstGeom prst="ellipse">
            <a:avLst/>
          </a:prstGeom>
          <a:solidFill>
            <a:srgbClr val="E06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24142" y="1673352"/>
            <a:ext cx="1280159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A365D"/>
                </a:solidFill>
                <a:latin typeface="Calibri"/>
              </a:defRPr>
            </a:pPr>
            <a:r>
              <a:t>Record voice</a:t>
            </a:r>
            <a:br/>
            <a:r>
              <a:t>or tap value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23173" y="1828800"/>
            <a:ext cx="201168" cy="146304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97493" y="1600200"/>
            <a:ext cx="1874519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88933" y="1709928"/>
            <a:ext cx="402336" cy="402336"/>
          </a:xfrm>
          <a:prstGeom prst="ellipse">
            <a:avLst/>
          </a:prstGeom>
          <a:solidFill>
            <a:srgbClr val="287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46133" y="1673352"/>
            <a:ext cx="1280159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A365D"/>
                </a:solidFill>
                <a:latin typeface="Calibri"/>
              </a:defRPr>
            </a:pPr>
            <a:r>
              <a:t>Automatic</a:t>
            </a:r>
            <a:br/>
            <a:r>
              <a:t>transcription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345164" y="1828800"/>
            <a:ext cx="201168" cy="146304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19484" y="1600200"/>
            <a:ext cx="1874519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10924" y="1709928"/>
            <a:ext cx="402336" cy="402336"/>
          </a:xfrm>
          <a:prstGeom prst="ellipse">
            <a:avLst/>
          </a:prstGeom>
          <a:solidFill>
            <a:srgbClr val="E06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68124" y="1673352"/>
            <a:ext cx="1280159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A365D"/>
                </a:solidFill>
                <a:latin typeface="Calibri"/>
              </a:defRPr>
            </a:pPr>
            <a:r>
              <a:t>Save to</a:t>
            </a:r>
            <a:br/>
            <a:r>
              <a:t>local DB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2423160"/>
            <a:ext cx="676656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media__17860330201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14600"/>
            <a:ext cx="6583680" cy="3886200"/>
          </a:xfrm>
          <a:prstGeom prst="rect">
            <a:avLst/>
          </a:prstGeom>
        </p:spPr>
      </p:pic>
      <p:sp>
        <p:nvSpPr>
          <p:cNvPr id="26" name="Oval 25"/>
          <p:cNvSpPr/>
          <p:nvPr/>
        </p:nvSpPr>
        <p:spPr>
          <a:xfrm>
            <a:off x="1783080" y="3794760"/>
            <a:ext cx="347472" cy="347472"/>
          </a:xfrm>
          <a:prstGeom prst="ellipse">
            <a:avLst/>
          </a:prstGeom>
          <a:solidFill>
            <a:srgbClr val="E06D5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1</a:t>
            </a:r>
          </a:p>
        </p:txBody>
      </p:sp>
      <p:sp>
        <p:nvSpPr>
          <p:cNvPr id="27" name="Oval 26"/>
          <p:cNvSpPr/>
          <p:nvPr/>
        </p:nvSpPr>
        <p:spPr>
          <a:xfrm>
            <a:off x="4023360" y="3703320"/>
            <a:ext cx="347472" cy="347472"/>
          </a:xfrm>
          <a:prstGeom prst="ellipse">
            <a:avLst/>
          </a:prstGeom>
          <a:solidFill>
            <a:srgbClr val="28746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2</a:t>
            </a:r>
          </a:p>
        </p:txBody>
      </p:sp>
      <p:sp>
        <p:nvSpPr>
          <p:cNvPr id="28" name="Oval 27"/>
          <p:cNvSpPr/>
          <p:nvPr/>
        </p:nvSpPr>
        <p:spPr>
          <a:xfrm>
            <a:off x="6263640" y="3794760"/>
            <a:ext cx="347472" cy="347472"/>
          </a:xfrm>
          <a:prstGeom prst="ellipse">
            <a:avLst/>
          </a:prstGeom>
          <a:solidFill>
            <a:srgbClr val="E06D5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3</a:t>
            </a:r>
          </a:p>
        </p:txBody>
      </p:sp>
      <p:sp>
        <p:nvSpPr>
          <p:cNvPr id="29" name="Oval 28"/>
          <p:cNvSpPr/>
          <p:nvPr/>
        </p:nvSpPr>
        <p:spPr>
          <a:xfrm>
            <a:off x="6629400" y="5943600"/>
            <a:ext cx="347472" cy="347472"/>
          </a:xfrm>
          <a:prstGeom prst="ellipse">
            <a:avLst/>
          </a:prstGeom>
          <a:solidFill>
            <a:srgbClr val="28746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4</a:t>
            </a:r>
          </a:p>
        </p:txBody>
      </p:sp>
      <p:sp>
        <p:nvSpPr>
          <p:cNvPr id="30" name="Oval 29"/>
          <p:cNvSpPr/>
          <p:nvPr/>
        </p:nvSpPr>
        <p:spPr>
          <a:xfrm>
            <a:off x="5897880" y="5349240"/>
            <a:ext cx="347472" cy="347472"/>
          </a:xfrm>
          <a:prstGeom prst="ellipse">
            <a:avLst/>
          </a:prstGeom>
          <a:solidFill>
            <a:srgbClr val="E06D5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2423160"/>
            <a:ext cx="3685032" cy="4069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6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01000" y="2606040"/>
            <a:ext cx="3227832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 b="1">
                <a:solidFill>
                  <a:srgbClr val="1A365D"/>
                </a:solidFill>
                <a:latin typeface="Calibri"/>
              </a:defRPr>
            </a:pPr>
            <a:r>
              <a:t>Hands-free voice capture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60152" y="2606040"/>
            <a:ext cx="868680" cy="274320"/>
          </a:xfrm>
          <a:prstGeom prst="roundRect">
            <a:avLst/>
          </a:prstGeom>
          <a:solidFill>
            <a:srgbClr val="E6F3F1"/>
          </a:solidFill>
          <a:ln w="12700">
            <a:solidFill>
              <a:srgbClr val="287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87465"/>
                </a:solidFill>
              </a:defRPr>
            </a:pPr>
            <a:r>
              <a:t>STEP 3 &amp;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3200400"/>
            <a:ext cx="3227832" cy="3063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E06D53"/>
                </a:solidFill>
                <a:latin typeface="Calibri"/>
              </a:defRPr>
            </a:pPr>
            <a:r>
              <a:t>SPOKEN INPUT</a:t>
            </a:r>
          </a:p>
          <a:p>
            <a:pPr>
              <a:spcAft>
                <a:spcPts val="1400"/>
              </a:spcAft>
              <a:defRPr sz="1100" i="1">
                <a:solidFill>
                  <a:srgbClr val="2D3748"/>
                </a:solidFill>
                <a:latin typeface="Calibri"/>
              </a:defRPr>
            </a:pPr>
            <a:r>
              <a:t>“30 minutes resistance training, upper body workout, felt great.”</a:t>
            </a:r>
          </a:p>
          <a:p>
            <a:pPr>
              <a:spcAft>
                <a:spcPts val="200"/>
              </a:spcAft>
              <a:defRPr sz="900" b="1">
                <a:solidFill>
                  <a:srgbClr val="287465"/>
                </a:solidFill>
                <a:latin typeface="Calibri"/>
              </a:defRPr>
            </a:pPr>
            <a:r>
              <a:t>AUTOMATED EXTRACTION</a:t>
            </a:r>
          </a:p>
          <a:p>
            <a:pPr>
              <a:spcAft>
                <a:spcPts val="1400"/>
              </a:spcAft>
              <a:defRPr sz="1200" b="1">
                <a:solidFill>
                  <a:srgbClr val="1A365D"/>
                </a:solidFill>
                <a:latin typeface="Calibri"/>
              </a:defRPr>
            </a:pPr>
            <a:r>
              <a:t>30 mins · Fitness · Resistance training</a:t>
            </a:r>
          </a:p>
          <a:p>
            <a:pPr>
              <a:defRPr sz="1050">
                <a:solidFill>
                  <a:srgbClr val="4A5568"/>
                </a:solidFill>
                <a:latin typeface="Calibri"/>
              </a:defRPr>
            </a:pPr>
            <a:r>
              <a:t>The user records speech while exercising. The Web Speech API transcribes in the background, populates the activity entry, and saves raw text for manual review.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91440" cy="502920"/>
          </a:xfrm>
          <a:prstGeom prst="rect">
            <a:avLst/>
          </a:prstGeom>
          <a:solidFill>
            <a:srgbClr val="E06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2004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1A365D"/>
                </a:solidFill>
                <a:latin typeface="Calibri"/>
              </a:defRPr>
            </a:pPr>
            <a:r>
              <a:t>Technical design</a:t>
            </a:r>
          </a:p>
          <a:p>
            <a:pPr>
              <a:defRPr sz="1200" b="0">
                <a:solidFill>
                  <a:srgbClr val="4A5568"/>
                </a:solidFill>
                <a:latin typeface="Calibri"/>
              </a:defRPr>
            </a:pPr>
            <a:r>
              <a:t>A local-first habit tracking PWA with IndexedDB, cost-optimized delta sync, and serverless AI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92024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A365D"/>
                </a:solidFill>
              </a:defRPr>
            </a:pPr>
            <a:r>
              <a:t>React 18 PWA</a:t>
            </a:r>
          </a:p>
          <a:p>
            <a:pPr>
              <a:defRPr sz="950">
                <a:solidFill>
                  <a:srgbClr val="4A5568"/>
                </a:solidFill>
              </a:defRPr>
            </a:pPr>
            <a:r>
              <a:t>UI, touch gestures,</a:t>
            </a:r>
            <a:br/>
            <a:r>
              <a:t>and Web Speech API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06624" y="1874520"/>
            <a:ext cx="192024" cy="137160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53512" y="1463040"/>
            <a:ext cx="1920240" cy="1051560"/>
          </a:xfrm>
          <a:prstGeom prst="roundRect">
            <a:avLst/>
          </a:prstGeom>
          <a:solidFill>
            <a:srgbClr val="E6F3F1"/>
          </a:solidFill>
          <a:ln>
            <a:solidFill>
              <a:srgbClr val="2874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A365D"/>
                </a:solidFill>
              </a:defRPr>
            </a:pPr>
            <a:r>
              <a:t>IndexedDB (Dexie)</a:t>
            </a:r>
          </a:p>
          <a:p>
            <a:pPr>
              <a:defRPr sz="950">
                <a:solidFill>
                  <a:srgbClr val="4A5568"/>
                </a:solidFill>
              </a:defRPr>
            </a:pPr>
            <a:r>
              <a:t>Local-first database</a:t>
            </a:r>
            <a:br/>
            <a:r>
              <a:t>Instant offline reads &amp; writes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928616" y="1874520"/>
            <a:ext cx="192024" cy="137160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75504" y="1463040"/>
            <a:ext cx="192024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A365D"/>
                </a:solidFill>
              </a:defRPr>
            </a:pPr>
            <a:r>
              <a:t>Delta Sync Engine</a:t>
            </a:r>
          </a:p>
          <a:p>
            <a:pPr>
              <a:defRPr sz="950">
                <a:solidFill>
                  <a:srgbClr val="4A5568"/>
                </a:solidFill>
              </a:defRPr>
            </a:pPr>
            <a:r>
              <a:t>Syncs changed records</a:t>
            </a:r>
            <a:br/>
            <a:r>
              <a:t>Timestamp diff &amp; tombstoning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50608" y="1874520"/>
            <a:ext cx="192024" cy="137160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97496" y="1463040"/>
            <a:ext cx="192024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A365D"/>
                </a:solidFill>
              </a:defRPr>
            </a:pPr>
            <a:r>
              <a:t>Cloud Firestore</a:t>
            </a:r>
          </a:p>
          <a:p>
            <a:pPr>
              <a:defRPr sz="950">
                <a:solidFill>
                  <a:srgbClr val="4A5568"/>
                </a:solidFill>
              </a:defRPr>
            </a:pPr>
            <a:r>
              <a:t>Multi-device cloud backup</a:t>
            </a:r>
            <a:br/>
            <a:r>
              <a:t>Firebase Auth protection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72600" y="1874520"/>
            <a:ext cx="192024" cy="137160"/>
          </a:xfrm>
          <a:prstGeom prst="rightArrow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19488" y="1463040"/>
            <a:ext cx="1920240" cy="1051560"/>
          </a:xfrm>
          <a:prstGeom prst="roundRect">
            <a:avLst/>
          </a:prstGeom>
          <a:solidFill>
            <a:srgbClr val="FEF2F2"/>
          </a:solidFill>
          <a:ln>
            <a:solidFill>
              <a:srgbClr val="E06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E06D53"/>
                </a:solidFill>
              </a:defRPr>
            </a:pPr>
            <a:r>
              <a:t>Gemini AI Pipeline</a:t>
            </a:r>
          </a:p>
          <a:p>
            <a:pPr>
              <a:defRPr sz="950">
                <a:solidFill>
                  <a:srgbClr val="4A5568"/>
                </a:solidFill>
              </a:defRPr>
            </a:pPr>
            <a:r>
              <a:t>Scheduled Cloud Function</a:t>
            </a:r>
            <a:br/>
            <a:r>
              <a:t>Synthesizes community 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512064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A365D"/>
                </a:solidFill>
                <a:latin typeface="Calibri"/>
              </a:defRPr>
            </a:pPr>
            <a:r>
              <a:t>Implementation choices</a:t>
            </a:r>
          </a:p>
          <a:p>
            <a:pPr>
              <a:spcAft>
                <a:spcPts val="800"/>
              </a:spcAft>
              <a:defRPr sz="1100">
                <a:solidFill>
                  <a:srgbClr val="2D3748"/>
                </a:solidFill>
                <a:latin typeface="Calibri"/>
              </a:defRPr>
            </a:pPr>
            <a:r>
              <a:t>• Local-first architecture: The app runs 100% offline. All entries and goals save immediately to IndexedDB before any cloud sync.</a:t>
            </a:r>
          </a:p>
          <a:p>
            <a:pPr>
              <a:spcAft>
                <a:spcPts val="800"/>
              </a:spcAft>
              <a:defRPr sz="1100">
                <a:solidFill>
                  <a:srgbClr val="2D3748"/>
                </a:solidFill>
                <a:latin typeface="Calibri"/>
              </a:defRPr>
            </a:pPr>
            <a:r>
              <a:t>• Timestamp delta sync: Replaced full-database sync with timestamp queries (updated_at &gt; last_sync_time), reducing Firestore reads by &gt;90%.</a:t>
            </a:r>
          </a:p>
          <a:p>
            <a:pPr>
              <a:spcAft>
                <a:spcPts val="800"/>
              </a:spcAft>
              <a:defRPr sz="1100">
                <a:solidFill>
                  <a:srgbClr val="2D3748"/>
                </a:solidFill>
                <a:latin typeface="Calibri"/>
              </a:defRPr>
            </a:pPr>
            <a:r>
              <a:t>• Soft-delete tombstoning: Deletions set deleted_at rather than erasing records immediately, preventing offline deletes from reappearing on sync.</a:t>
            </a:r>
          </a:p>
          <a:p>
            <a:pPr>
              <a:spcAft>
                <a:spcPts val="800"/>
              </a:spcAft>
              <a:defRPr sz="1100">
                <a:solidFill>
                  <a:srgbClr val="2D3748"/>
                </a:solidFill>
                <a:latin typeface="Calibri"/>
              </a:defRPr>
            </a:pPr>
            <a:r>
              <a:t>• Zero API keys in client: Gemini calls execute strictly inside a scheduled serverless Cloud Function, keeping API credentials secure.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3017520"/>
            <a:ext cx="512064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A365D"/>
                </a:solidFill>
                <a:latin typeface="Calibri"/>
              </a:defRPr>
            </a:pPr>
            <a:r>
              <a:t>Development approach</a:t>
            </a:r>
          </a:p>
          <a:p>
            <a:pPr>
              <a:spcAft>
                <a:spcPts val="800"/>
              </a:spcAft>
              <a:defRPr sz="1100">
                <a:solidFill>
                  <a:srgbClr val="2D3748"/>
                </a:solidFill>
                <a:latin typeface="Calibri"/>
              </a:defRPr>
            </a:pPr>
            <a:r>
              <a:t>• Developed in Google Antigravity with Gemini and Claude as autonomous pair programmers.</a:t>
            </a:r>
          </a:p>
          <a:p>
            <a:pPr>
              <a:spcAft>
                <a:spcPts val="800"/>
              </a:spcAft>
              <a:defRPr sz="1100">
                <a:solidFill>
                  <a:srgbClr val="2D3748"/>
                </a:solidFill>
                <a:latin typeface="Calibri"/>
              </a:defRPr>
            </a:pPr>
            <a:r>
              <a:t>• Claude guided structural refactoring, delta sync reconciliation logic, and offline state management.</a:t>
            </a:r>
          </a:p>
          <a:p>
            <a:pPr>
              <a:spcAft>
                <a:spcPts val="800"/>
              </a:spcAft>
              <a:defRPr sz="1100">
                <a:solidFill>
                  <a:srgbClr val="2D3748"/>
                </a:solidFill>
                <a:latin typeface="Calibri"/>
              </a:defRPr>
            </a:pPr>
            <a:r>
              <a:t>• Gemini handled rapid codebase exploration, Cloud Functions integration, and dynamic model discovery.</a:t>
            </a:r>
          </a:p>
          <a:p>
            <a:pPr>
              <a:spcAft>
                <a:spcPts val="800"/>
              </a:spcAft>
              <a:defRPr sz="1100">
                <a:solidFill>
                  <a:srgbClr val="2D3748"/>
                </a:solidFill>
                <a:latin typeface="Calibri"/>
              </a:defRPr>
            </a:pPr>
            <a:r>
              <a:t>• Automated regression checks and CI/CD pipelines deployed to Firebase Hosting on each verified push.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